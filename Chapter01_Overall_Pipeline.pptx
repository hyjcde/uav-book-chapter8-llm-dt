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阶段一：智能数据采集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4228" y="987552"/>
            <a:ext cx="9144" cy="32186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2 章：任务规划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7393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多机协同分配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覆盖路径规划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能耗感知优化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3 章：运动规划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085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731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实时建图定位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840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9743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避障轨迹生成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52852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风场扰动控制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27248" y="658368"/>
            <a:ext cx="182880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28416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阶段二：三维表达与数据基准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4004" y="987552"/>
            <a:ext cx="9144" cy="32186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19856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4 章：三维重建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177393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11296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02736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SfM 密集重建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11296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02736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Mesh 神经渲染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11296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02736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点云 BIM 对齐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9856" y="42062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5 章：巡检数据集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46085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11296" y="47731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02736" y="46634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多模态采集 (RGB/红外)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50840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02736" y="49743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缺陷标注规范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11296" y="53949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6" y="52852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语义分割基准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907024" y="658368"/>
            <a:ext cx="182880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08192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阶段三：AI 缺陷感知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83780" y="987552"/>
            <a:ext cx="9144" cy="38404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9632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6 章：AI 检测模型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1773936"/>
            <a:ext cx="7315" cy="1060704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2512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机载低时延约束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82512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缺陷检测与分割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82512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严重程度量化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2871216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82512" y="2761488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边缘机载部署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8686800" y="658368"/>
            <a:ext cx="182880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87968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阶段四：数字孪生与 LLM 决策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63556" y="987552"/>
            <a:ext cx="9144" cy="41330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979408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7 章：GIS 与 GeoBIM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70848" y="177393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70848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62288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GeoBIM 空间映射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70848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62288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退化时空分析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70848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62288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资产护照挂载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79408" y="32918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8 章：数字孪生与大模型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70848" y="36941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70848" y="38587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162288" y="37490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LLM/VLM 推理底座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70848" y="41696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62288" y="40599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孪生记忆与 RAG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70848" y="44805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162288" y="43708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维保决策与报告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79408" y="51206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第 9 章：总结与展望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70848" y="55229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70848" y="56875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162288" y="55778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端到端系统闭环总结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70848" y="59984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162288" y="58887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法规与安全约束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70848" y="63093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162288" y="61996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自主集群展望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Phase I: Data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4228" y="987552"/>
            <a:ext cx="9144" cy="32186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2: Task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7393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Multi-UAV Routing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Coverage Path Opt.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Energy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3: Motion Planning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085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731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Mapping &amp; Localiz.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840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9743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Obstacle Avoidance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52852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Wind Control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27248" y="658368"/>
            <a:ext cx="182880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28416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Phase II: 3D Recon &amp; Datasets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4004" y="987552"/>
            <a:ext cx="9144" cy="32186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19856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4: 3D Reconstruction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177393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11296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02736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SfM &amp; Point Clouds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11296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02736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Mesh &amp; Rendering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11296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02736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BIM Alignment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9856" y="42062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5: Datasets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46085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11296" y="47731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02736" y="46634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Multimodal Capture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1296" y="50840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02736" y="49743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Defect Annotation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11296" y="53949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02736" y="52852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Benchmark Splits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907024" y="658368"/>
            <a:ext cx="182880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08192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Phase III: AI Defect Perception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83780" y="987552"/>
            <a:ext cx="9144" cy="38404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99632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6: AI Defect Models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1773936"/>
            <a:ext cx="7315" cy="1060704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2512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On-board Latency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82512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Defect Detection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82512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Instance Seg.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2871216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82512" y="2761488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Edge Validation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8686800" y="658368"/>
            <a:ext cx="182880" cy="219456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87968" y="548640"/>
            <a:ext cx="256032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000000"/>
                </a:solidFill>
                <a:latin typeface="Times New Roman"/>
              </a:defRPr>
            </a:pPr>
            <a:r>
              <a:t>Phase IV: Digital Twin &amp; LLM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63556" y="987552"/>
            <a:ext cx="9144" cy="413308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979408" y="137160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7: GIS &amp; GeoBIM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70848" y="177393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70848" y="193852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62288" y="182880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GeoBIM Mapping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70848" y="224942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62288" y="213969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Degradation Analysis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70848" y="256032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62288" y="245059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Asset Passports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79408" y="32918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8: Digital Twin &amp; LLM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70848" y="36941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70848" y="38587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162288" y="37490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LLM/VLM Reasoning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70848" y="41696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62288" y="40599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Twin Memory &amp; RAG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70848" y="44805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162288" y="43708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Maintenance DSS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79408" y="5120640"/>
            <a:ext cx="23774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Chapter 9: Conclusion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70848" y="5522976"/>
            <a:ext cx="7315" cy="749808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70848" y="5687568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162288" y="5577840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System Summary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70848" y="5998464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162288" y="5888736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Safety &amp; Bounds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70848" y="6309360"/>
            <a:ext cx="82296" cy="7315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162288" y="6199632"/>
            <a:ext cx="2084831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• Autonomous Swarms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