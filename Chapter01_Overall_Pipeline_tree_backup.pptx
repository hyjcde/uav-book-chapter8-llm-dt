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专著总体大纲与四阶段技术路线树状映射图</a:t>
            </a:r>
          </a:p>
          <a:p>
            <a:pPr>
              <a:defRPr sz="1100">
                <a:solidFill>
                  <a:srgbClr val="5A5A5A"/>
                </a:solidFill>
                <a:latin typeface="Times New Roman"/>
              </a:defRPr>
            </a:pPr>
            <a:r>
              <a:t>AI-Driven UAV Building Inspection: An End-to-End Framework from Autonomous Flight to Digital Twins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阶段一：智能数据采集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4228" y="1581912"/>
            <a:ext cx="9144" cy="2852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2940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2 章：无人机任务规划 （Xinyi Wang）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092" y="22494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2.2 多机协同与任务分配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2.4 立面巡检覆盖路径规划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2.5 能耗感知优化控制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" y="44348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3 章：环境运动规划 （Chuanxiang Gao）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" y="47640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" y="49103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" y="48188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3.2 实时建图与定位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" y="51663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" y="50749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3.3 复杂环境避障轨迹生成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" y="54223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" y="53309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3.4 风场扰动下自主控制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27248" y="1307592"/>
            <a:ext cx="182880" cy="20116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28416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阶段二：三维表达与数据基准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4004" y="1581912"/>
            <a:ext cx="9144" cy="2852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42716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4 章：三维重建与映射 （Guidong Yang）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5868" y="22494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15868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07308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4.2 SfM 稀疏与密集重建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5868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07308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4.4 神经渲染与 Mesh 构网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5868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07308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4.5 点云配准与 BIM 对齐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2716" y="44348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5 章：数据集与基准 （Benyun Zhao）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15868" y="47640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15868" y="49103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07308" y="48188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5.2 多模态图像预处理与标注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5868" y="51663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07308" y="50749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5.3 建筑立面缺陷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15868" y="54223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7308" y="53309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5.4 缺陷 Instance Segmentation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07024" y="1307592"/>
            <a:ext cx="182880" cy="20116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08192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阶段三：AI 缺陷感知分析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83780" y="1581912"/>
            <a:ext cx="9144" cy="3383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22492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6 章：巡检 AI 检测模型 （Benyun Zhao）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5644" y="2249424"/>
            <a:ext cx="7315" cy="87782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5644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87084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6.1 机载算力与低时延约束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5644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87084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6.3 缺陷检测深度学习架构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5644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7084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6.4 实例分割与定量评估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5644" y="3163824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87084" y="3072384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6.6 边缘部署与机载实测校验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686800" y="1307592"/>
            <a:ext cx="182880" cy="20116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87968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阶段四：数字孪生与大模型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63556" y="1581912"/>
            <a:ext cx="9144" cy="3813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02268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7 章：GIS 与 GeoBIM 集成 （Jihan Zhang）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75420" y="22494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75420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166860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7.2 UAV 数据映射 GeoBIM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75420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66860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7.3 结构退化时空分析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75420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66860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7.5 城市级资产护照挂载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2268" y="365760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8 章：数字孪生与大模型 （Yijun Huang）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75420" y="398678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75420" y="413308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166860" y="404164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8.2 LLM / VLM 领域推理底座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75420" y="438912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66860" y="429768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8.3 孪生记忆与 RAG 检索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75420" y="464515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166860" y="455371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8.5/8.6 报告生成与预测维护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02268" y="539496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第 9 章：总结与展望 （Ben M. Chen et al.）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75420" y="572414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75420" y="587044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166860" y="577900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9.1 端到端系统闭环总结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75420" y="612648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166860" y="603504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9.2 法规、安全与隐私约束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75420" y="638251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166860" y="629107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9.3 自主集群与下一代 AI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Times New Roman"/>
              </a:defRPr>
            </a:pPr>
            <a:r>
              <a:t>图 1.1：专著四阶段端到端技术路线树状映射图（全书 9 章从物理采集、三维重建、AI 感知到数字孪生大模型决策）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Times New Roman"/>
              </a:defRPr>
            </a:pPr>
            <a:r>
              <a:t>Monograph Overall Structure and Four-Phase Chapter Tree Roadmap</a:t>
            </a:r>
          </a:p>
          <a:p>
            <a:pPr>
              <a:defRPr sz="1100">
                <a:solidFill>
                  <a:srgbClr val="5A5A5A"/>
                </a:solidFill>
                <a:latin typeface="Times New Roman"/>
              </a:defRPr>
            </a:pPr>
            <a:r>
              <a:t>AI-Driven UAV Building Inspection: An End-to-End Framework from Autonomous Flight to Digital Twins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Phase I: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4228" y="1581912"/>
            <a:ext cx="9144" cy="2852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2940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2: Task Planning (Xinyi Wang)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6092" y="22494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6092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7532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2.2 Multi-UAV Task Allocation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2.4 Façade Coverage Path Planning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7532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2.5 Energy-Aware Optimization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" y="44348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3: Motion Planning (Chuanxiang Gao)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" y="47640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" y="49103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" y="48188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3.2 Real-time Mapping &amp; Localiz.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" y="51663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" y="50749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3.3 Obstacle Trajectory Generation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" y="54223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7532" y="53309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3.4 Wind Disturbance Control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27248" y="1307592"/>
            <a:ext cx="182880" cy="20116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28416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Phase II: 3D Recon. &amp; Datasets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04004" y="1581912"/>
            <a:ext cx="9144" cy="28529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42716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4: 3D Reconstruction (Guidong Yang)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15868" y="22494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15868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07308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4.2 SfM Sparse &amp; Dense Recon.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15868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07308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4.4 Neural Rendering &amp; Mesh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15868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07308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4.5 Point Cloud &amp; BIM Alignment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42716" y="44348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5: Inspection Datasets (Benyun Zhao)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15868" y="47640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15868" y="49103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07308" y="48188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5.2 Multimodal Preproc. &amp; Annot.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15868" y="51663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07308" y="50749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5.3 Façade Defect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15868" y="54223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07308" y="53309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5.4 Instance Segmentation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07024" y="1307592"/>
            <a:ext cx="182880" cy="20116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08192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Phase III: AI Defect Perception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83780" y="1581912"/>
            <a:ext cx="9144" cy="33832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22492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6: AI Defect Models (Benyun Zhao)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95644" y="2249424"/>
            <a:ext cx="7315" cy="877824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5644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87084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6.1 On-board Compute &amp; Latency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95644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87084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6.3 Defect Detection Architectures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5644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87084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6.4 Instance Seg. &amp; Metrics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95644" y="3163824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387084" y="3072384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6.6 Edge Deployment Validation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686800" y="1307592"/>
            <a:ext cx="182880" cy="201168"/>
          </a:xfrm>
          <a:prstGeom prst="rightArrow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87968" y="1234440"/>
            <a:ext cx="256032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defRPr sz="1000" b="1">
                <a:solidFill>
                  <a:srgbClr val="000000"/>
                </a:solidFill>
                <a:latin typeface="Times New Roman"/>
              </a:defRPr>
            </a:pPr>
            <a:r>
              <a:t>Phase IV: Digital Twin &amp; LLM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63556" y="1581912"/>
            <a:ext cx="9144" cy="381304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02268" y="192024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7: GIS &amp; GeoBIM (Jihan Zhang)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75420" y="224942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075420" y="239572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166860" y="230428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7.2 Mapping UAV/3D to GeoBIM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75420" y="265176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66860" y="256032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7.3 Spatiotemporal Degradation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75420" y="290779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66860" y="281635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7.5 City Asset Passport Mgmt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02268" y="365760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8: Digital Twin &amp; LLM (Yijun Huang)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75420" y="398678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75420" y="413308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166860" y="404164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8.2 LLM / VLM Domain Reasoning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75420" y="438912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66860" y="429768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8.3 Twin Memory &amp; RAG Retrieval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075420" y="464515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166860" y="455371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8.5/8.6 Report &amp; Maintenance DSS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02268" y="5394960"/>
            <a:ext cx="23317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19" b="1">
                <a:solidFill>
                  <a:srgbClr val="000000"/>
                </a:solidFill>
                <a:latin typeface="Times New Roman"/>
              </a:defRPr>
            </a:pPr>
            <a:r>
              <a:t>Chapter 9: Conclusion &amp; Outlook (Ben M. Chen et al.)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75420" y="5724144"/>
            <a:ext cx="7315" cy="621792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075420" y="5870448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166860" y="5779008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9.1 End-to-End System Summary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75420" y="6126480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166860" y="6035040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9.2 Regulatory &amp; Safety Bounds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75420" y="6382512"/>
            <a:ext cx="73152" cy="731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166860" y="6291072"/>
            <a:ext cx="2084831" cy="21945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19">
                <a:solidFill>
                  <a:srgbClr val="000000"/>
                </a:solidFill>
                <a:latin typeface="Times New Roman"/>
              </a:defRPr>
            </a:pPr>
            <a:r>
              <a:t>9.3 Autonomous Swarms &amp; AI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Times New Roman"/>
              </a:defRPr>
            </a:pPr>
            <a:r>
              <a:t>Figure 1.1: Four-phase end-to-end methodology and detailed chapter tree roadmap of the monograph (Chapters 1–9).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