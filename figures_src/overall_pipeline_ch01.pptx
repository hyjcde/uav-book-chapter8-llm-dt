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A202C"/>
                </a:solidFill>
                <a:latin typeface="Arial"/>
              </a:defRPr>
            </a:pPr>
            <a:r>
              <a:t>专著整体框架与章节映射流程图 (Overall Framework &amp; Chapter Structure)</a:t>
            </a:r>
          </a:p>
          <a:p>
            <a:pPr>
              <a:defRPr sz="1200">
                <a:solidFill>
                  <a:srgbClr val="4A5568"/>
                </a:solidFill>
                <a:latin typeface="Microsoft YaHei"/>
              </a:defRPr>
            </a:pPr>
            <a:r>
              <a:t>书名: AI-Driven UAV Building Inspection: An End-to-End Framework from Autonomous Flight to Digital Twins (第1章导论映射)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2468880" cy="4663440"/>
          </a:xfrm>
          <a:prstGeom prst="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468880" cy="5943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阶段一: 自主飞行与数据采集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057400"/>
            <a:ext cx="2249424" cy="18059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100" b="1">
                <a:solidFill>
                  <a:srgbClr val="1A202C"/>
                </a:solidFill>
                <a:latin typeface="Microsoft YaHei"/>
              </a:defRPr>
            </a:pPr>
            <a:r>
              <a:t>【第 2 章】任务规划 (Task Planning)</a:t>
            </a:r>
          </a:p>
          <a:p>
            <a:pPr>
              <a:defRPr sz="950">
                <a:solidFill>
                  <a:srgbClr val="4A5568"/>
                </a:solidFill>
                <a:latin typeface="Microsoft YaHei"/>
              </a:defRPr>
            </a:pPr>
            <a:r>
              <a:t>立面巡检覆盖规划 • ROI区域定义 • 多无人机路径生成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3954780"/>
            <a:ext cx="2249424" cy="18059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100" b="1">
                <a:solidFill>
                  <a:srgbClr val="1A202C"/>
                </a:solidFill>
                <a:latin typeface="Microsoft YaHei"/>
              </a:defRPr>
            </a:pPr>
            <a:r>
              <a:t>【第 3 章】运动规划与执行 (Motion Planning)</a:t>
            </a:r>
          </a:p>
          <a:p>
            <a:pPr>
              <a:defRPr sz="950">
                <a:solidFill>
                  <a:srgbClr val="4A5568"/>
                </a:solidFill>
                <a:latin typeface="Microsoft YaHei"/>
              </a:defRPr>
            </a:pPr>
            <a:r>
              <a:t>实时避障 • 轨迹优化与控制 • 风场适应与自主飞行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46120" y="3566160"/>
            <a:ext cx="182880" cy="27432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0" y="1371600"/>
            <a:ext cx="2468880" cy="4663440"/>
          </a:xfrm>
          <a:prstGeom prst="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1371600"/>
            <a:ext cx="2468880" cy="5943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阶段二: 空间重建与数据表达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4448" y="2057400"/>
            <a:ext cx="2249424" cy="18059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100" b="1">
                <a:solidFill>
                  <a:srgbClr val="1A202C"/>
                </a:solidFill>
                <a:latin typeface="Microsoft YaHei"/>
              </a:defRPr>
            </a:pPr>
            <a:r>
              <a:t>【第 4 章】3D重建与资产映射 (3D Reconstruction)</a:t>
            </a:r>
          </a:p>
          <a:p>
            <a:pPr>
              <a:defRPr sz="950">
                <a:solidFill>
                  <a:srgbClr val="4A5568"/>
                </a:solidFill>
                <a:latin typeface="Microsoft YaHei"/>
              </a:defRPr>
            </a:pPr>
            <a:r>
              <a:t>摄影测量 • 点云与网格建模 • BIM/坐标系精准对齐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84448" y="3954780"/>
            <a:ext cx="2249424" cy="18059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100" b="1">
                <a:solidFill>
                  <a:srgbClr val="1A202C"/>
                </a:solidFill>
                <a:latin typeface="Microsoft YaHei"/>
              </a:defRPr>
            </a:pPr>
            <a:r>
              <a:t>【第 5 章】巡检数据集与多模态数据 (Datasets)</a:t>
            </a:r>
          </a:p>
          <a:p>
            <a:pPr>
              <a:defRPr sz="950">
                <a:solidFill>
                  <a:srgbClr val="4A5568"/>
                </a:solidFill>
                <a:latin typeface="Microsoft YaHei"/>
              </a:defRPr>
            </a:pPr>
            <a:r>
              <a:t>RGB/热成像数据采集 • 缺陷标注规范 • 基准集构建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89320" y="3566160"/>
            <a:ext cx="182880" cy="27432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2468880" cy="4663440"/>
          </a:xfrm>
          <a:prstGeom prst="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2468880" cy="59436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阶段三: AI 缺陷感知与分析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8" y="2057400"/>
            <a:ext cx="2249424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100" b="1">
                <a:solidFill>
                  <a:srgbClr val="1A202C"/>
                </a:solidFill>
                <a:latin typeface="Microsoft YaHei"/>
              </a:defRPr>
            </a:pPr>
            <a:r>
              <a:t>【第 6 章】缺陷检测 AI 模型 (AI Defect Models)</a:t>
            </a:r>
          </a:p>
          <a:p>
            <a:pPr>
              <a:defRPr sz="950">
                <a:solidFill>
                  <a:srgbClr val="4A5568"/>
                </a:solidFill>
                <a:latin typeface="Microsoft YaHei"/>
              </a:defRPr>
            </a:pPr>
            <a:r>
              <a:t>深度学习检测器 • 实例分割 • 缺陷面积与程度量化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32520" y="3566160"/>
            <a:ext cx="182880" cy="27432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61120" y="1371600"/>
            <a:ext cx="2468880" cy="4663440"/>
          </a:xfrm>
          <a:prstGeom prst="rect">
            <a:avLst/>
          </a:prstGeom>
          <a:solidFill>
            <a:srgbClr val="F1F5F9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61120" y="1371600"/>
            <a:ext cx="2468880" cy="59436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阶段四: 数字孪生与 AI 决策支持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0848" y="2057400"/>
            <a:ext cx="2249424" cy="1112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100" b="1">
                <a:solidFill>
                  <a:srgbClr val="1A202C"/>
                </a:solidFill>
                <a:latin typeface="Microsoft YaHei"/>
              </a:defRPr>
            </a:pPr>
            <a:r>
              <a:t>【第 7 章】GIS 与 GeoBIM 集成 (GeoBIM Integration)</a:t>
            </a:r>
          </a:p>
          <a:p>
            <a:pPr>
              <a:defRPr sz="950">
                <a:solidFill>
                  <a:srgbClr val="4A5568"/>
                </a:solidFill>
                <a:latin typeface="Microsoft YaHei"/>
              </a:defRPr>
            </a:pPr>
            <a:r>
              <a:t>空间数据库映射 • GeoBIM Schema • 资产护照挂载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70848" y="3261360"/>
            <a:ext cx="2249424" cy="1112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100" b="1">
                <a:solidFill>
                  <a:srgbClr val="1A202C"/>
                </a:solidFill>
                <a:latin typeface="Microsoft YaHei"/>
              </a:defRPr>
            </a:pPr>
            <a:r>
              <a:t>【第 8 章】数字孪生与大模型 (DT &amp; LLM Reasoning)</a:t>
            </a:r>
          </a:p>
          <a:p>
            <a:pPr>
              <a:defRPr sz="950">
                <a:solidFill>
                  <a:srgbClr val="4A5568"/>
                </a:solidFill>
                <a:latin typeface="Microsoft YaHei"/>
              </a:defRPr>
            </a:pPr>
            <a:r>
              <a:t>LLM/VLM推理 • 检索增强生成(RAG) • 预测性维护决策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0848" y="4465320"/>
            <a:ext cx="2249424" cy="1112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100" b="1">
                <a:solidFill>
                  <a:srgbClr val="1A202C"/>
                </a:solidFill>
                <a:latin typeface="Microsoft YaHei"/>
              </a:defRPr>
            </a:pPr>
            <a:r>
              <a:t>【第 9 章】总结与展望 (Conclusion &amp; Future)</a:t>
            </a:r>
          </a:p>
          <a:p>
            <a:pPr>
              <a:defRPr sz="950">
                <a:solidFill>
                  <a:srgbClr val="4A5568"/>
                </a:solidFill>
                <a:latin typeface="Microsoft YaHei"/>
              </a:defRPr>
            </a:pPr>
            <a:r>
              <a:t>现场部署经验审计 • 开放挑战与下一代智能运维展望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1722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4A5568"/>
                </a:solidFill>
                <a:latin typeface="Microsoft YaHei"/>
              </a:defRPr>
            </a:pPr>
            <a:r>
              <a:t>注：从第2/3章自主飞行与采集，到第4/5章空间重建，第6章缺陷识别，最终至第7/8/9章数字孪生与大模型决策，形成完整的端到端智能运维闭环。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02C"/>
                </a:solidFill>
                <a:latin typeface="Arial"/>
              </a:defRPr>
            </a:pPr>
            <a:r>
              <a:t>全书章节数据流转与功能接口 (Data Flow &amp; Inter-Chapter Interfaces)</a:t>
            </a:r>
          </a:p>
          <a:p>
            <a:pPr>
              <a:defRPr sz="1200">
                <a:solidFill>
                  <a:srgbClr val="4A5568"/>
                </a:solidFill>
                <a:latin typeface="Microsoft YaHei"/>
              </a:defRPr>
            </a:pPr>
            <a:r>
              <a:t>构建从底层物理采样到高层大模型推理的完整数据链条 (Data Chain from Physical Sensing to Cognitive LLM)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3566160"/>
                <a:gridCol w="2590495"/>
              </a:tblGrid>
              <a:tr h="792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阶段 / 章节 (Phase &amp; Chapter)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输出数据/资产 (Data &amp; Asset)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核心处理/功能 (Key Operation)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下游对接章节 (Target Chapter)</a:t>
                      </a:r>
                    </a:p>
                  </a:txBody>
                  <a:tcPr>
                    <a:solidFill>
                      <a:srgbClr val="E2E8F0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第 2 &amp; 3 章: 任务与运动规划</a:t>
                      </a:r>
                      <a:br/>
                      <a:r>
                        <a:t>(Flight &amp; Motion Planning)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三维无碰撞巡检轨迹</a:t>
                      </a:r>
                      <a:br/>
                      <a:r>
                        <a:t>多模态影像数据集 (RGB/Thermal)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覆盖率优化路径生成、实时避障与风场扰动控制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第 4 &amp; 5 章: 重建与数据集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第 4 &amp; 5 章: 3D重建与数据集</a:t>
                      </a:r>
                      <a:br/>
                      <a:r>
                        <a:t>(Reconstruction &amp; Datasets)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高精度点云、网格模型(Mesh)</a:t>
                      </a:r>
                      <a:br/>
                      <a:r>
                        <a:t>标注对齐的缺陷图像集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倾斜摄影测量、BIM坐标系精准对齐、标定与分割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第 6 章: AI缺陷检测</a:t>
                      </a:r>
                      <a:br/>
                      <a:r>
                        <a:t>第 7 章: GIS/GeoBIM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第 6 章: 缺陷检测 AI 模型</a:t>
                      </a:r>
                      <a:br/>
                      <a:r>
                        <a:t>(AI Defect Perception)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缺陷 bounding boxes/掩码</a:t>
                      </a:r>
                      <a:br/>
                      <a:r>
                        <a:t>构件级缺陷类型、面积与定量指标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深度学习目标检测、实例分割、缺陷严重程度量化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第 7 章: GeoBIM 挂载</a:t>
                      </a:r>
                      <a:br/>
                      <a:r>
                        <a:t>第 8 章: 数字孪生推理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第 7 章: GIS 与 GeoBIM 集成</a:t>
                      </a:r>
                      <a:br/>
                      <a:r>
                        <a:t>(GeoBIM &amp; Asset Passports)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挂载缺陷的 GeoBIM 资产护照</a:t>
                      </a:r>
                      <a:br/>
                      <a:r>
                        <a:t>空间拓扑关系数据库 (Spatial Graph)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空间关联分析、Asset-ID 语义绑定、历史维保数据库归档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第 8 章: 大模型决策支持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第 8 &amp; 9 章: 数字孪生与大模型</a:t>
                      </a:r>
                      <a:br/>
                      <a:r>
                        <a:t>(DT &amp; LLM Decision Support)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可审计巡检报告、维保建议工单</a:t>
                      </a:r>
                      <a:br/>
                      <a:r>
                        <a:t>闭环复巡指令 (Re-inspection Task)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检索增强生成 (RAG)、历史记录查询、预测性维护决策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202C"/>
                          </a:solidFill>
                          <a:latin typeface="Microsoft YaHei"/>
                        </a:defRPr>
                      </a:pPr>
                      <a:r>
                        <a:t>反馈至 第 2 章 闭环复巡</a:t>
                      </a:r>
                      <a:br/>
                      <a:r>
                        <a:t>及现场运维工程应用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02C"/>
                </a:solidFill>
                <a:latin typeface="Arial"/>
              </a:defRPr>
            </a:pPr>
            <a:r>
              <a:t>建筑巡检端到端四层系统架构视图 (Four-Layer System Architecture)</a:t>
            </a:r>
          </a:p>
          <a:p>
            <a:pPr>
              <a:defRPr sz="1200">
                <a:solidFill>
                  <a:srgbClr val="4A5568"/>
                </a:solidFill>
                <a:latin typeface="Microsoft YaHei"/>
              </a:defRPr>
            </a:pPr>
            <a:r>
              <a:t>物理域、空间域、感知域与认知域的解耦与协同 (Decoupled Co-Design from Flight to Cognitive Reasoning)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051560"/>
          </a:xfrm>
          <a:prstGeom prst="rect">
            <a:avLst/>
          </a:prstGeom>
          <a:solidFill>
            <a:srgbClr val="F1F5F9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200" b="1">
                <a:solidFill>
                  <a:srgbClr val="1A202C"/>
                </a:solidFill>
                <a:latin typeface="Microsoft YaHei"/>
              </a:defRPr>
            </a:pPr>
            <a:r>
              <a:t>L4: 认知与决策层 (Cognitive &amp; Decision Domain)   │   对应章节: 第 8 章 (DT + LLM) &amp; 第 9 章 (总结与展望)</a:t>
            </a:r>
          </a:p>
          <a:p>
            <a:pPr>
              <a:defRPr sz="1050">
                <a:solidFill>
                  <a:srgbClr val="4A5568"/>
                </a:solidFill>
                <a:latin typeface="Microsoft YaHei"/>
              </a:defRPr>
            </a:pPr>
            <a:r>
              <a:t>核心功能组件: 即用型大语言模型 (LLM/VLM) • 检索增强生成 (RAG) • 历史维修记录查询 • 预测性维护决策 • 报告自动生成与工单下发</a:t>
            </a:r>
          </a:p>
        </p:txBody>
      </p:sp>
      <p:sp>
        <p:nvSpPr>
          <p:cNvPr id="4" name="Down Arrow 3"/>
          <p:cNvSpPr/>
          <p:nvPr/>
        </p:nvSpPr>
        <p:spPr>
          <a:xfrm>
            <a:off x="5852160" y="2441448"/>
            <a:ext cx="228600" cy="100584"/>
          </a:xfrm>
          <a:prstGeom prst="downArrow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10728655" cy="1051560"/>
          </a:xfrm>
          <a:prstGeom prst="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200" b="1">
                <a:solidFill>
                  <a:srgbClr val="1A202C"/>
                </a:solidFill>
                <a:latin typeface="Microsoft YaHei"/>
              </a:defRPr>
            </a:pPr>
            <a:r>
              <a:t>L3: 感知与资产层 (Perception &amp; Asset Management Domain)   │   对应章节: 第 6 章 (AI检测模型) &amp; 第 7 章 (GIS &amp; GeoBIM集成)</a:t>
            </a:r>
          </a:p>
          <a:p>
            <a:pPr>
              <a:defRPr sz="1050">
                <a:solidFill>
                  <a:srgbClr val="4A5568"/>
                </a:solidFill>
                <a:latin typeface="Microsoft YaHei"/>
              </a:defRPr>
            </a:pPr>
            <a:r>
              <a:t>核心功能组件: 深度学习缺陷检测/实例分割 • 图像语义分析 • GeoBIM 空间数据库 • 资产护照 (Asset Passport) • 拓扑关系链锚定</a:t>
            </a:r>
          </a:p>
        </p:txBody>
      </p:sp>
      <p:sp>
        <p:nvSpPr>
          <p:cNvPr id="6" name="Down Arrow 5"/>
          <p:cNvSpPr/>
          <p:nvPr/>
        </p:nvSpPr>
        <p:spPr>
          <a:xfrm>
            <a:off x="5852160" y="3630168"/>
            <a:ext cx="228600" cy="100584"/>
          </a:xfrm>
          <a:prstGeom prst="downArrow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3749040"/>
            <a:ext cx="10728655" cy="1051560"/>
          </a:xfrm>
          <a:prstGeom prst="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200" b="1">
                <a:solidFill>
                  <a:srgbClr val="1A202C"/>
                </a:solidFill>
                <a:latin typeface="Microsoft YaHei"/>
              </a:defRPr>
            </a:pPr>
            <a:r>
              <a:t>L2: 空间与表达层 (Spatial &amp; Data Representation Domain)   │   对应章节: 第 4 章 (3D重建) &amp; 第 5 章 (巡检数据集)</a:t>
            </a:r>
          </a:p>
          <a:p>
            <a:pPr>
              <a:defRPr sz="1050">
                <a:solidFill>
                  <a:srgbClr val="4A5568"/>
                </a:solidFill>
                <a:latin typeface="Microsoft YaHei"/>
              </a:defRPr>
            </a:pPr>
            <a:r>
              <a:t>核心功能组件: 无人机倾斜摄影测量 • 点云与三维网格建模 (Mesh) • BIM/地理坐标对齐 • 多模态 (RGB/热成像) 数据集构建与标定</a:t>
            </a:r>
          </a:p>
        </p:txBody>
      </p:sp>
      <p:sp>
        <p:nvSpPr>
          <p:cNvPr id="8" name="Down Arrow 7"/>
          <p:cNvSpPr/>
          <p:nvPr/>
        </p:nvSpPr>
        <p:spPr>
          <a:xfrm>
            <a:off x="5852160" y="4818888"/>
            <a:ext cx="228600" cy="100584"/>
          </a:xfrm>
          <a:prstGeom prst="downArrow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4937760"/>
            <a:ext cx="10728655" cy="1051560"/>
          </a:xfrm>
          <a:prstGeom prst="rect">
            <a:avLst/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91440"/>
          <a:lstStyle/>
          <a:p>
            <a:pPr algn="ctr">
              <a:defRPr sz="1200" b="1">
                <a:solidFill>
                  <a:srgbClr val="1A202C"/>
                </a:solidFill>
                <a:latin typeface="Microsoft YaHei"/>
              </a:defRPr>
            </a:pPr>
            <a:r>
              <a:t>L1: 物理与采集层 (Physical &amp; Flight Domain)   │   对应章节: 第 2 章 (任务规划) &amp; 第 3 章 (运动规划与执行)</a:t>
            </a:r>
          </a:p>
          <a:p>
            <a:pPr>
              <a:defRPr sz="1050">
                <a:solidFill>
                  <a:srgbClr val="4A5568"/>
                </a:solidFill>
                <a:latin typeface="Microsoft YaHei"/>
              </a:defRPr>
            </a:pPr>
            <a:r>
              <a:t>核心功能组件: 立面巡检覆盖路径规划 • 实时避障与安全边界 • 轨迹优化控制 • 风场扰动控制 • 无人机平台与多传感器硬件执行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