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专著总体框架与章节结构图</a:t>
            </a:r>
          </a:p>
          <a:p>
            <a:pPr>
              <a:defRPr sz="1200">
                <a:solidFill>
                  <a:srgbClr val="5A5A5A"/>
                </a:solidFill>
                <a:latin typeface="Times New Roman"/>
              </a:defRPr>
            </a:pPr>
            <a:r>
              <a:t>AI-Driven UAV Building Inspection: An End-to-End Framework from Autonomous Flight to Digital Twins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阶段一：自主采集与规划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2 章：任务规划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立面巡检覆盖路径规划</a:t>
            </a:r>
            <a:br/>
            <a:r>
              <a:t>• ROI 区域定义与多机协同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32504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3 章：运动规划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实时避障与轨迹优化</a:t>
            </a:r>
            <a:br/>
            <a:r>
              <a:t>• 风场扰动适应与自主控制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7832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2152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阶段二：重建与数据表达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1920240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4 章：三维重建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倾斜摄影测量与点云建模</a:t>
            </a:r>
            <a:br/>
            <a:r>
              <a:t>• Mesh 构网与 BIM 坐标对齐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4032504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5 章：巡检数据集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RGB / 热成像多模态采集</a:t>
            </a:r>
            <a:br/>
            <a:r>
              <a:t>• 缺陷标注规范与基准集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8464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阶段三：AI 缺陷感知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920240"/>
            <a:ext cx="2423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6 章：AI 缺陷检测模型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深度学习目标检测</a:t>
            </a:r>
            <a:br/>
            <a:r>
              <a:t>• 构件实例分割与定量量化</a:t>
            </a:r>
            <a:br/>
            <a:r>
              <a:t>• 缺陷严重程度评估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69096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43416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阶段四：数字孪生与决策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920240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7 章：GIS 与 GeoBIM 集成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空间数据库与 GeoBIM 映射</a:t>
            </a:r>
            <a:br/>
            <a:r>
              <a:t>• 缺陷与资产护照 (Passport) 挂载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416" y="3328416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8 章：数字孪生与大模型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LLM / VLM 检索增强推理 (RAG)</a:t>
            </a:r>
            <a:br/>
            <a:r>
              <a:t>• 历史维保查询与预测性维护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4736592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第 9 章：总结与展望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现场部署经验审计</a:t>
            </a:r>
            <a:br/>
            <a:r>
              <a:t>• 开放挑战与下一代系统展望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图 1.1：专著四阶段端到端技术路线与章节映射关系（从物理采集、三维重建到大模型决策支持）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Overall Framework and Chapter Map</a:t>
            </a:r>
          </a:p>
          <a:p>
            <a:pPr>
              <a:defRPr sz="1200">
                <a:solidFill>
                  <a:srgbClr val="5A5A5A"/>
                </a:solidFill>
                <a:latin typeface="Times New Roman"/>
              </a:defRPr>
            </a:pPr>
            <a:r>
              <a:t>AI-Driven UAV Building Inspection: An End-to-End Framework from Autonomous Flight to Digital Twins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Phase I: Flight &amp;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2: Task Planning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Façade inspection path planning</a:t>
            </a:r>
            <a:br/>
            <a:r>
              <a:t>• ROI definition &amp; multi-UAV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32504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3: Motion Planning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Obstacle avoidance &amp; trajectory opt.</a:t>
            </a:r>
            <a:br/>
            <a:r>
              <a:t>• Wind disturbance adaptation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7832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2152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Phase II: Reconstruction &amp;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1920240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4: 3D Reconstruction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Photogrammetry &amp; point clouds</a:t>
            </a:r>
            <a:br/>
            <a:r>
              <a:t>• Mesh modeling &amp; BIM 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4032504"/>
            <a:ext cx="2423160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5: Inspection Datasets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Multimodal RGB / Thermal capture</a:t>
            </a:r>
            <a:br/>
            <a:r>
              <a:t>• Defect annotation &amp; benchmarks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8464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Phase III: AI Defect Perception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920240"/>
            <a:ext cx="2423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6: AI Defect Models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Deep learning defect detection</a:t>
            </a:r>
            <a:br/>
            <a:r>
              <a:t>• Instance segmentation &amp; quantification</a:t>
            </a:r>
            <a:br/>
            <a:r>
              <a:t>• Severity rating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69096" y="3593592"/>
            <a:ext cx="201168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43416" y="1371600"/>
            <a:ext cx="24231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Times New Roman"/>
              </a:defRPr>
            </a:pPr>
            <a:r>
              <a:t>Phase IV: Digital Twin &amp;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920240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7: GIS &amp; GeoBIM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Spatial database &amp; GeoBIM mapping</a:t>
            </a:r>
            <a:br/>
            <a:r>
              <a:t>• Defect &amp; Asset Passport attachment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416" y="3328416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8: Digital Twin &amp; LLM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LLM / VLM RAG reasoning</a:t>
            </a:r>
            <a:br/>
            <a:r>
              <a:t>• Maintenance query &amp;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4736592"/>
            <a:ext cx="2423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0000"/>
                </a:solidFill>
                <a:latin typeface="Times New Roman"/>
              </a:defRPr>
            </a:pPr>
            <a:r>
              <a:t>Chapter 9: Conclusion &amp; Future</a:t>
            </a:r>
          </a:p>
          <a:p>
            <a:pPr>
              <a:defRPr sz="950">
                <a:solidFill>
                  <a:srgbClr val="000000"/>
                </a:solidFill>
                <a:latin typeface="Times New Roman"/>
              </a:defRPr>
            </a:pPr>
            <a:r>
              <a:t>• Field deployment audit</a:t>
            </a:r>
            <a:br/>
            <a:r>
              <a:t>• Open challenges &amp; future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Figure 1.1: End-to-end four-phase methodology and chapter mapping of the monograph.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